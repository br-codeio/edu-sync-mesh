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B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2700000">
            <a:off x="7315200" y="457200"/>
            <a:ext cx="2286000" cy="2286000"/>
          </a:xfrm>
          <a:prstGeom prst="rect">
            <a:avLst/>
          </a:prstGeom>
          <a:solidFill>
            <a:srgbClr val="FDD835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 rot="1800000">
            <a:off x="-457200" y="4114800"/>
            <a:ext cx="1828800" cy="1828800"/>
          </a:xfrm>
          <a:prstGeom prst="rect">
            <a:avLst/>
          </a:prstGeom>
          <a:solidFill>
            <a:srgbClr val="2E7D32">
              <a:alpha val="2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6459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Impact" pitchFamily="34" charset="0"/>
                <a:ea typeface="Impact" pitchFamily="34" charset="-122"/>
                <a:cs typeface="Impact" pitchFamily="34" charset="-120"/>
              </a:rPr>
              <a:t>EDU-SYNC MESH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457200" y="2743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i="1" dirty="0">
                <a:solidFill>
                  <a:srgbClr val="FDD8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Offline-First AI Tutor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3383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Bridging the Rural-Urban Learning Gap in Zimbabwe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University IT Hackathon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PAIN: Digital Apartheid</a:t>
            </a:r>
            <a:endParaRPr lang="en-US" sz="44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3931920" cy="3657600"/>
          </a:xfrm>
          <a:prstGeom prst="rect">
            <a:avLst/>
          </a:prstGeom>
          <a:solidFill>
            <a:srgbClr val="FFEBEE"/>
          </a:solidFill>
          <a:ln w="38100">
            <a:solidFill>
              <a:srgbClr val="B8504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55448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8504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RURAL (Madziva)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📵 No reliable internet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26517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1GB = 20% weekly income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31089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Unstable electricity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35661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35% ZIMSEC pass rate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40233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🏔️ Students climb hills for 1 bar signal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754880" y="1371600"/>
            <a:ext cx="3931920" cy="3657600"/>
          </a:xfrm>
          <a:prstGeom prst="rect">
            <a:avLst/>
          </a:prstGeom>
          <a:solidFill>
            <a:srgbClr val="E8F5E9"/>
          </a:solidFill>
          <a:ln w="38100">
            <a:solidFill>
              <a:srgbClr val="2E7D3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0" y="155448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7D3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URBAN (Harare)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846320" y="21945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📶 High-speed Wi-Fi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846320" y="26517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💻 Computer labs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846320" y="31089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Stable power supply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46320" y="35661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78% ZIMSEC pass rate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846320" y="40233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🎓 Private tutors available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E7D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CURE: Our 3 Innovations</a:t>
            </a:r>
            <a:endParaRPr lang="en-US" sz="44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8229600" cy="1097280"/>
          </a:xfrm>
          <a:prstGeom prst="rect">
            <a:avLst/>
          </a:prstGeom>
          <a:solidFill>
            <a:srgbClr val="FFFFFF"/>
          </a:solidFill>
          <a:ln w="50800">
            <a:solidFill>
              <a:srgbClr val="FDD83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08760"/>
            <a:ext cx="731520" cy="731520"/>
          </a:xfrm>
          <a:prstGeom prst="ellipse">
            <a:avLst/>
          </a:prstGeom>
          <a:solidFill>
            <a:srgbClr val="FDD835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5087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Impact" pitchFamily="34" charset="0"/>
                <a:ea typeface="Impact" pitchFamily="34" charset="-122"/>
                <a:cs typeface="Impact" pitchFamily="34" charset="-120"/>
              </a:rPr>
              <a:t>1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1554480" y="150876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B1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Village Hub: Local Raspberry Pi Wi-Fi Server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554480" y="1874520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Hosts ZIMSEC curriculum + offline AI. Runs on car battery. Zero internet needed.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2651760"/>
            <a:ext cx="8229600" cy="1097280"/>
          </a:xfrm>
          <a:prstGeom prst="rect">
            <a:avLst/>
          </a:prstGeom>
          <a:solidFill>
            <a:srgbClr val="FFFFFF"/>
          </a:solidFill>
          <a:ln w="50800">
            <a:solidFill>
              <a:srgbClr val="FDD83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788920"/>
            <a:ext cx="731520" cy="731520"/>
          </a:xfrm>
          <a:prstGeom prst="ellipse">
            <a:avLst/>
          </a:prstGeom>
          <a:solidFill>
            <a:srgbClr val="FDD835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889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Impact" pitchFamily="34" charset="0"/>
                <a:ea typeface="Impact" pitchFamily="34" charset="-122"/>
                <a:cs typeface="Impact" pitchFamily="34" charset="-120"/>
              </a:rPr>
              <a:t>2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1554480" y="278892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B1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Mule Sync: "The Bus is Our Fiber Cable"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554480" y="3154680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travels to town → phone auto-downloads updates → returns → auto-syncs with Village Hub.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3931920"/>
            <a:ext cx="8229600" cy="1097280"/>
          </a:xfrm>
          <a:prstGeom prst="rect">
            <a:avLst/>
          </a:prstGeom>
          <a:solidFill>
            <a:srgbClr val="FFFFFF"/>
          </a:solidFill>
          <a:ln w="50800">
            <a:solidFill>
              <a:srgbClr val="FDD83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4069080"/>
            <a:ext cx="731520" cy="731520"/>
          </a:xfrm>
          <a:prstGeom prst="ellipse">
            <a:avLst/>
          </a:prstGeom>
          <a:solidFill>
            <a:srgbClr val="FDD835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40690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Impact" pitchFamily="34" charset="0"/>
                <a:ea typeface="Impact" pitchFamily="34" charset="-122"/>
                <a:cs typeface="Impact" pitchFamily="34" charset="-120"/>
              </a:rPr>
              <a:t>3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1554480" y="406908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B1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Gamified P2P Sharing: Wi-Fi Direct + Edu-Coins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554480" y="4434840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242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share lessons like SHAREit. Earn Edu-Coins for every share. Zero data cost.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IT WORKS: Technical Architecture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7863840" cy="822960"/>
          </a:xfrm>
          <a:prstGeom prst="rect">
            <a:avLst/>
          </a:prstGeom>
          <a:solidFill>
            <a:srgbClr val="FFFFFF"/>
          </a:solidFill>
          <a:ln w="38100">
            <a:solidFill>
              <a:srgbClr val="2E7D3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463040"/>
            <a:ext cx="640080" cy="640080"/>
          </a:xfrm>
          <a:prstGeom prst="ellipse">
            <a:avLst/>
          </a:prstGeom>
          <a:solidFill>
            <a:srgbClr val="FDD835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4630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1B1B"/>
                </a:solidFill>
                <a:latin typeface="Impact" pitchFamily="34" charset="0"/>
                <a:ea typeface="Impact" pitchFamily="34" charset="-122"/>
                <a:cs typeface="Impact" pitchFamily="34" charset="-120"/>
              </a:rPr>
              <a:t>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645920" y="14630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B1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Rural School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45920" y="17830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Raspberry Pi Village Hub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(Local Wi-Fi Hotspot)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297680" y="2286000"/>
            <a:ext cx="548640" cy="457200"/>
          </a:xfrm>
          <a:prstGeom prst="downArrow">
            <a:avLst/>
          </a:prstGeom>
          <a:solidFill>
            <a:srgbClr val="FDD835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2468880"/>
            <a:ext cx="7863840" cy="822960"/>
          </a:xfrm>
          <a:prstGeom prst="rect">
            <a:avLst/>
          </a:prstGeom>
          <a:solidFill>
            <a:srgbClr val="FFFFFF"/>
          </a:solidFill>
          <a:ln w="38100">
            <a:solidFill>
              <a:srgbClr val="2E7D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2560320"/>
            <a:ext cx="640080" cy="640080"/>
          </a:xfrm>
          <a:prstGeom prst="ellipse">
            <a:avLst/>
          </a:prstGeom>
          <a:solidFill>
            <a:srgbClr val="FDD835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25603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1B1B"/>
                </a:solidFill>
                <a:latin typeface="Impact" pitchFamily="34" charset="0"/>
                <a:ea typeface="Impact" pitchFamily="34" charset="-122"/>
                <a:cs typeface="Impact" pitchFamily="34" charset="-120"/>
              </a:rPr>
              <a:t>2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1645920" y="25603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B1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Teacher Travels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645920" y="28803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downloads updates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urban area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297680" y="3383280"/>
            <a:ext cx="548640" cy="457200"/>
          </a:xfrm>
          <a:prstGeom prst="downArrow">
            <a:avLst/>
          </a:prstGeom>
          <a:solidFill>
            <a:srgbClr val="FDD835"/>
          </a:solidFill>
          <a:ln/>
        </p:spPr>
      </p:sp>
      <p:sp>
        <p:nvSpPr>
          <p:cNvPr id="15" name="Shape 13"/>
          <p:cNvSpPr/>
          <p:nvPr/>
        </p:nvSpPr>
        <p:spPr>
          <a:xfrm>
            <a:off x="640080" y="3566160"/>
            <a:ext cx="7863840" cy="822960"/>
          </a:xfrm>
          <a:prstGeom prst="rect">
            <a:avLst/>
          </a:prstGeom>
          <a:solidFill>
            <a:srgbClr val="FFFFFF"/>
          </a:solidFill>
          <a:ln w="38100">
            <a:solidFill>
              <a:srgbClr val="2E7D3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3657600"/>
            <a:ext cx="640080" cy="640080"/>
          </a:xfrm>
          <a:prstGeom prst="ellipse">
            <a:avLst/>
          </a:prstGeom>
          <a:solidFill>
            <a:srgbClr val="FDD835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36576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1B1B"/>
                </a:solidFill>
                <a:latin typeface="Impact" pitchFamily="34" charset="0"/>
                <a:ea typeface="Impact" pitchFamily="34" charset="-122"/>
                <a:cs typeface="Impact" pitchFamily="34" charset="-120"/>
              </a:rPr>
              <a:t>3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1645920" y="365760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B1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Auto-Sync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645920" y="3977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to village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161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 syncs new content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0" y="1371600"/>
            <a:ext cx="3931920" cy="3017520"/>
          </a:xfrm>
          <a:prstGeom prst="rect">
            <a:avLst/>
          </a:prstGeom>
          <a:solidFill>
            <a:srgbClr val="E3F2FD"/>
          </a:solidFill>
          <a:ln w="25400">
            <a:solidFill>
              <a:srgbClr val="1976D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54880" y="155448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76D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 Stack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4754880" y="20116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🖥️ Raspberry Pi 4 / Old Laptop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754880" y="23317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📡 Local Wi-Fi (no internet)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754880" y="265176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Llama-3-8b (offline AI)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754880" y="297180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💾 PouchDB (offline-first DB)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754880" y="329184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 PWA (works on cheap phones)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754880" y="36118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CouchDB sync protocol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DEMO: The Interface</a:t>
            </a:r>
            <a:endParaRPr lang="en-US" sz="4400" dirty="0"/>
          </a:p>
        </p:txBody>
      </p:sp>
      <p:sp>
        <p:nvSpPr>
          <p:cNvPr id="3" name="Shape 1"/>
          <p:cNvSpPr/>
          <p:nvPr/>
        </p:nvSpPr>
        <p:spPr>
          <a:xfrm>
            <a:off x="914400" y="1280160"/>
            <a:ext cx="7315200" cy="3749040"/>
          </a:xfrm>
          <a:prstGeom prst="rect">
            <a:avLst/>
          </a:prstGeom>
          <a:solidFill>
            <a:srgbClr val="FFF3E0"/>
          </a:solidFill>
          <a:ln w="38100">
            <a:solidFill>
              <a:srgbClr val="B8504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64592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B85042"/>
                </a:solidFill>
                <a:latin typeface="Impact" pitchFamily="34" charset="0"/>
                <a:ea typeface="Impact" pitchFamily="34" charset="-122"/>
                <a:cs typeface="Impact" pitchFamily="34" charset="-120"/>
              </a:rPr>
              <a:t>📱 PWA INTERFACE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371600" y="23774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Offline AI Tutor (answers in Shona/English)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71600" y="278892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ZIMSEC Curriculum Library (247 lessons)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71600" y="320040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P2P Sharing Dashboard (Wi-Fi Direct)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371600" y="361188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Edu-Coins Gamification System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71600" y="402336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Works on $50 Android phones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D8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B1B1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SOCIAL IMPACT</a:t>
            </a:r>
            <a:endParaRPr lang="en-US" sz="44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2560320" cy="2011680"/>
          </a:xfrm>
          <a:prstGeom prst="rect">
            <a:avLst/>
          </a:prstGeom>
          <a:solidFill>
            <a:srgbClr val="FFFFFF"/>
          </a:solidFill>
          <a:ln w="50800">
            <a:solidFill>
              <a:srgbClr val="2E7D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E7D32"/>
                </a:solidFill>
                <a:latin typeface="Impact" pitchFamily="34" charset="0"/>
                <a:ea typeface="Impact" pitchFamily="34" charset="-122"/>
                <a:cs typeface="Impact" pitchFamily="34" charset="-120"/>
              </a:rPr>
              <a:t>$0.00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457200" y="246888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Cost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Student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200400" y="1371600"/>
            <a:ext cx="2560320" cy="2011680"/>
          </a:xfrm>
          <a:prstGeom prst="rect">
            <a:avLst/>
          </a:prstGeom>
          <a:solidFill>
            <a:srgbClr val="FFFFFF"/>
          </a:solidFill>
          <a:ln w="50800">
            <a:solidFill>
              <a:srgbClr val="B8504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0" y="164592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B85042"/>
                </a:solidFill>
                <a:latin typeface="Impact" pitchFamily="34" charset="0"/>
                <a:ea typeface="Impact" pitchFamily="34" charset="-122"/>
                <a:cs typeface="Impact" pitchFamily="34" charset="-120"/>
              </a:rPr>
              <a:t>200+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3200400" y="246888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Hub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943600" y="1371600"/>
            <a:ext cx="2560320" cy="2011680"/>
          </a:xfrm>
          <a:prstGeom prst="rect">
            <a:avLst/>
          </a:prstGeom>
          <a:solidFill>
            <a:srgbClr val="FFFFFF"/>
          </a:solidFill>
          <a:ln w="50800">
            <a:solidFill>
              <a:srgbClr val="1976D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0" y="164592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976D2"/>
                </a:solidFill>
                <a:latin typeface="Impact" pitchFamily="34" charset="0"/>
                <a:ea typeface="Impact" pitchFamily="34" charset="-122"/>
                <a:cs typeface="Impact" pitchFamily="34" charset="-120"/>
              </a:rPr>
              <a:t>$50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5943600" y="246888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Setup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rgbClr val="1B1B1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Scalable to every rural school in Zimbabwe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the 43% pass rate gap between rural and urban students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850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WE'LL WIN</a:t>
            </a:r>
            <a:endParaRPr lang="en-US" sz="44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8229600" cy="54864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3716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Innovation Criteria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566160" y="13716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Other Solutions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035040" y="13716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Edu-Sync Mesh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20240"/>
            <a:ext cx="8229600" cy="4572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9659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Offline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566160" y="19659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Needs Internet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035040" y="196596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100% Offline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5146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Cost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66160" y="25146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$5-20/month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035040" y="25146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$0.00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017520"/>
            <a:ext cx="8229600" cy="4572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0632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Cost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566160" y="30632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💸 $500-2000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035040" y="306324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$50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3566160"/>
            <a:ext cx="82296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611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Tutor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566160" y="3611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Cloud-based only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035040" y="36118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Local + Shona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1605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Sharing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566160" y="41605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Centralized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035040" y="416052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P2P + Rewards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1B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2700000">
            <a:off x="6858000" y="-457200"/>
            <a:ext cx="2743200" cy="2743200"/>
          </a:xfrm>
          <a:prstGeom prst="rect">
            <a:avLst/>
          </a:prstGeom>
          <a:solidFill>
            <a:srgbClr val="FDD835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 rot="1800000">
            <a:off x="-914400" y="3657600"/>
            <a:ext cx="2286000" cy="2286000"/>
          </a:xfrm>
          <a:prstGeom prst="rect">
            <a:avLst/>
          </a:prstGeom>
          <a:solidFill>
            <a:srgbClr val="2E7D32">
              <a:alpha val="1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Impact" pitchFamily="34" charset="0"/>
                <a:ea typeface="Impact" pitchFamily="34" charset="-122"/>
                <a:cs typeface="Impact" pitchFamily="34" charset="-120"/>
              </a:rPr>
              <a:t>NEXT STEPS</a:t>
            </a:r>
            <a:endParaRPr lang="en-US" sz="5200" dirty="0"/>
          </a:p>
        </p:txBody>
      </p:sp>
      <p:sp>
        <p:nvSpPr>
          <p:cNvPr id="5" name="Shape 3"/>
          <p:cNvSpPr/>
          <p:nvPr/>
        </p:nvSpPr>
        <p:spPr>
          <a:xfrm>
            <a:off x="1371600" y="2286000"/>
            <a:ext cx="6400800" cy="502920"/>
          </a:xfrm>
          <a:prstGeom prst="rect">
            <a:avLst/>
          </a:prstGeom>
          <a:solidFill>
            <a:srgbClr val="FFFFFF">
              <a:alpha val="90000"/>
            </a:srgbClr>
          </a:solidFill>
          <a:ln w="25400">
            <a:solidFill>
              <a:srgbClr val="FDD8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554480" y="2350008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Pilot in 5 rural schools (Madziva, Rusape, Gokwe, Kariba, Binga)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371600" y="2880360"/>
            <a:ext cx="6400800" cy="502920"/>
          </a:xfrm>
          <a:prstGeom prst="rect">
            <a:avLst/>
          </a:prstGeom>
          <a:solidFill>
            <a:srgbClr val="FFFFFF">
              <a:alpha val="90000"/>
            </a:srgbClr>
          </a:solidFill>
          <a:ln w="25400">
            <a:solidFill>
              <a:srgbClr val="FDD83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54480" y="2944368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Measure ZIMSEC pass rate improvement over 6 months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371600" y="3474720"/>
            <a:ext cx="6400800" cy="502920"/>
          </a:xfrm>
          <a:prstGeom prst="rect">
            <a:avLst/>
          </a:prstGeom>
          <a:solidFill>
            <a:srgbClr val="FFFFFF">
              <a:alpha val="90000"/>
            </a:srgbClr>
          </a:solidFill>
          <a:ln w="25400">
            <a:solidFill>
              <a:srgbClr val="FDD8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554480" y="3538728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🤝 Partner with Ministry of Education for nationwide rollout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1371600" y="4069080"/>
            <a:ext cx="6400800" cy="502920"/>
          </a:xfrm>
          <a:prstGeom prst="rect">
            <a:avLst/>
          </a:prstGeom>
          <a:solidFill>
            <a:srgbClr val="FFFFFF">
              <a:alpha val="90000"/>
            </a:srgbClr>
          </a:solidFill>
          <a:ln w="25400">
            <a:solidFill>
              <a:srgbClr val="FDD83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554480" y="4133088"/>
            <a:ext cx="6035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Open-source the platform for other African countries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7200" y="47548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i="1" dirty="0">
                <a:solidFill>
                  <a:srgbClr val="FDD8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Let's end Digital Apartheid in Zimbabwe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" y="52120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5F5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Zimbabwe EdTech Innovation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Edu-Sync Mesh: The Offline-First AI Tutor</dc:title>
  <dc:subject>Hackathon 2026 - Bridging Rural-Urban Learning Gap</dc:subject>
  <dc:creator>Edu-Sync Mesh Team</dc:creator>
  <cp:lastModifiedBy>Edu-Sync Mesh Team</cp:lastModifiedBy>
  <cp:revision>1</cp:revision>
  <dcterms:created xsi:type="dcterms:W3CDTF">2026-02-02T12:29:19Z</dcterms:created>
  <dcterms:modified xsi:type="dcterms:W3CDTF">2026-02-02T12:29:19Z</dcterms:modified>
</cp:coreProperties>
</file>