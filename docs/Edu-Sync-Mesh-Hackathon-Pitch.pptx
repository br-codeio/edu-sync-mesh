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9875520" y="457200"/>
            <a:ext cx="2286000" cy="2286000"/>
          </a:xfrm>
          <a:prstGeom prst="rect">
            <a:avLst/>
          </a:prstGeom>
          <a:solidFill>
            <a:srgbClr val="FDD835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800000">
            <a:off x="-457200" y="5303520"/>
            <a:ext cx="1828800" cy="1828800"/>
          </a:xfrm>
          <a:prstGeom prst="rect">
            <a:avLst/>
          </a:prstGeom>
          <a:solidFill>
            <a:srgbClr val="2E7D32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EDU-SYNC MESH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FDD835"/>
                </a:solidFill>
              </a:rPr>
              <a:t>The Offline-First AI Tutor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F5F5"/>
                </a:solidFill>
              </a:rPr>
              <a:t>Bridging the Rural-Urban Learning Gap in Zimbabwe — with a REAL, working backend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59436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7D32"/>
                </a:solidFill>
              </a:rPr>
              <a:t>All-University IT Hackathon &amp; Innovation Day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62179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5F5"/>
                </a:solidFill>
              </a:rPr>
              <a:t>Brighton &amp; Kudakwashe Calvin Bhamusi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PAIN: Digital Apartheid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5394960" cy="4389120"/>
          </a:xfrm>
          <a:prstGeom prst="rect">
            <a:avLst/>
          </a:prstGeom>
          <a:solidFill>
            <a:srgbClr val="FFEBEE"/>
          </a:solidFill>
          <a:ln w="38100">
            <a:solidFill>
              <a:srgbClr val="B850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5042"/>
                </a:solidFill>
              </a:rPr>
              <a:t>RURAL (Madziva)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49377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</a:rPr>
              <a:t>No reliable internet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</a:rPr>
              <a:t>1GB data = 20% of weekly family income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</a:rPr>
              <a:t>Unstable electricity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</a:rPr>
              <a:t>~35% ZIMSEC pass rate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</a:rPr>
              <a:t>Students climb hills for 1 bar of signal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463040"/>
            <a:ext cx="5394960" cy="4389120"/>
          </a:xfrm>
          <a:prstGeom prst="rect">
            <a:avLst/>
          </a:prstGeom>
          <a:solidFill>
            <a:srgbClr val="E8F5E9"/>
          </a:solidFill>
          <a:ln w="3810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16459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</a:rPr>
              <a:t>URBAN (Harare)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583680" y="2286000"/>
            <a:ext cx="49377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</a:rPr>
              <a:t>High-speed Wi-Fi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</a:rPr>
              <a:t>Computer labs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</a:rPr>
              <a:t>Stable power supply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</a:rPr>
              <a:t>~78% ZIMSEC pass rate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1B1B"/>
                </a:solidFill>
              </a:rPr>
              <a:t>Private tutors available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7D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CURE: Our 3 Core Innovations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1247120" cy="1371600"/>
          </a:xfrm>
          <a:prstGeom prst="rect">
            <a:avLst/>
          </a:prstGeom>
          <a:solidFill>
            <a:srgbClr val="FFFFFF"/>
          </a:solidFill>
          <a:ln w="50800">
            <a:solidFill>
              <a:srgbClr val="FDD8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691640"/>
            <a:ext cx="777240" cy="777240"/>
          </a:xfrm>
          <a:prstGeom prst="ellipse">
            <a:avLst/>
          </a:prstGeom>
          <a:solidFill>
            <a:srgbClr val="FDD835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916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1B1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691640" y="15544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B1B"/>
                </a:solidFill>
              </a:rPr>
              <a:t>Village Hub: Raspberry Pi Wi-Fi Server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91640" y="201168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24242"/>
                </a:solidFill>
              </a:rPr>
              <a:t>Hosts ZIMSEC curriculum + offline AI tutor. Runs on a car battery. Zero internet connection needed.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971800"/>
            <a:ext cx="11247120" cy="1371600"/>
          </a:xfrm>
          <a:prstGeom prst="rect">
            <a:avLst/>
          </a:prstGeom>
          <a:solidFill>
            <a:srgbClr val="FFFFFF"/>
          </a:solidFill>
          <a:ln w="50800">
            <a:solidFill>
              <a:srgbClr val="FDD8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3291840"/>
            <a:ext cx="777240" cy="777240"/>
          </a:xfrm>
          <a:prstGeom prst="ellipse">
            <a:avLst/>
          </a:prstGeom>
          <a:solidFill>
            <a:srgbClr val="FDD835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2918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1B1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691640" y="31546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B1B"/>
                </a:solidFill>
              </a:rPr>
              <a:t>Data Mule Sync: "The Bus Is Our Fibre Cable"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91640" y="361188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24242"/>
                </a:solidFill>
              </a:rPr>
              <a:t>Teacher's phone or a USB drive on the daily commuter omnibus carries updates to and from town.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572000"/>
            <a:ext cx="11247120" cy="1371600"/>
          </a:xfrm>
          <a:prstGeom prst="rect">
            <a:avLst/>
          </a:prstGeom>
          <a:solidFill>
            <a:srgbClr val="FFFFFF"/>
          </a:solidFill>
          <a:ln w="50800">
            <a:solidFill>
              <a:srgbClr val="FDD8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4892040"/>
            <a:ext cx="777240" cy="777240"/>
          </a:xfrm>
          <a:prstGeom prst="ellipse">
            <a:avLst/>
          </a:prstGeom>
          <a:solidFill>
            <a:srgbClr val="FDD835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8920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1B1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1691640" y="475488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B1B"/>
                </a:solidFill>
              </a:rPr>
              <a:t>Gamified P2P Sharing + Real Content Library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91640" y="521208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24242"/>
                </a:solidFill>
              </a:rPr>
              <a:t>Students share lessons via Wi-Fi Direct and earn Edu-Coins — shared content actually appears in their library.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ISN'T A MOCKUP — IT'S WORKING SOFTWARE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DD835"/>
                </a:solidFill>
              </a:rPr>
              <a:t>What most hackathon demos show you vs. what we built: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11247120" cy="5029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Capability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0" y="16916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Typical Hackathon Demo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95360" y="16916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Edu-Sync Mesh (Today)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47120" cy="53035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49424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1B"/>
                </a:solidFill>
              </a:rPr>
              <a:t>Backend / Storage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0" y="2249424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62828"/>
                </a:solidFill>
              </a:rPr>
              <a:t>Simulated in-browser state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95360" y="2249424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</a:rPr>
              <a:t>Real Express server, file-persisted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761488"/>
            <a:ext cx="1124712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816352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1B"/>
                </a:solidFill>
              </a:rPr>
              <a:t>AI Tutor answers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69280" y="2816352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62828"/>
                </a:solidFill>
              </a:rPr>
              <a:t>Pre-scripted responses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595360" y="2816352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</a:rPr>
              <a:t>Keyword-matched, extensible knowledge base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328416"/>
            <a:ext cx="11247120" cy="53035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383280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1B"/>
                </a:solidFill>
              </a:rPr>
              <a:t>Unknown questions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69280" y="3383280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62828"/>
                </a:solidFill>
              </a:rPr>
              <a:t>Silently fails or fakes it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95360" y="3383280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</a:rPr>
              <a:t>Honestly flags gaps, queues for real sync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895344"/>
            <a:ext cx="1124712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950208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1B"/>
                </a:solidFill>
              </a:rPr>
              <a:t>Sync mechanism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69280" y="3950208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62828"/>
                </a:solidFill>
              </a:rPr>
              <a:t>Progress bar animation only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595360" y="3950208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</a:rPr>
              <a:t>Real internet lookup (Wikipedia API) on sync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462272"/>
            <a:ext cx="11247120" cy="53035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517136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1B"/>
                </a:solidFill>
              </a:rPr>
              <a:t>Content uploads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69280" y="4517136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62828"/>
                </a:solidFill>
              </a:rPr>
              <a:t>Not possible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595360" y="4517136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</a:rPr>
              <a:t>Real video + PDF past-paper uploads, live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5029200"/>
            <a:ext cx="1124712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5084064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B1B"/>
                </a:solidFill>
              </a:rPr>
              <a:t>Data persistence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669280" y="5084064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62828"/>
                </a:solidFill>
              </a:rPr>
              <a:t>Lost on refresh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595360" y="5084064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</a:rPr>
              <a:t>Survives restarts, shared across devices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WORKS: The Sync-and-Learn Loop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554480"/>
            <a:ext cx="2697480" cy="429768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17320" y="1783080"/>
            <a:ext cx="777240" cy="777240"/>
          </a:xfrm>
          <a:prstGeom prst="ellipse">
            <a:avLst/>
          </a:prstGeom>
          <a:solidFill>
            <a:srgbClr val="FDD835"/>
          </a:solidFill>
          <a:ln/>
        </p:spPr>
      </p:sp>
      <p:sp>
        <p:nvSpPr>
          <p:cNvPr id="5" name="Text 3"/>
          <p:cNvSpPr/>
          <p:nvPr/>
        </p:nvSpPr>
        <p:spPr>
          <a:xfrm>
            <a:off x="1417320" y="17830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1B1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B1B"/>
                </a:solidFill>
              </a:rPr>
              <a:t>Student asks a question offline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79476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24242"/>
                </a:solidFill>
              </a:rPr>
              <a:t>AI Tutor checks its local knowledge base first — zero data cost, instant if known.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554480"/>
            <a:ext cx="2697480" cy="429768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0" y="1783080"/>
            <a:ext cx="777240" cy="777240"/>
          </a:xfrm>
          <a:prstGeom prst="ellipse">
            <a:avLst/>
          </a:prstGeom>
          <a:solidFill>
            <a:srgbClr val="FDD835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17830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1B1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520440" y="274320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B1B"/>
                </a:solidFill>
              </a:rPr>
              <a:t>Unknown question? Honestly flagged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20440" y="379476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24242"/>
                </a:solidFill>
              </a:rPr>
              <a:t>Not guessed. Queued permanently, with a clear "I don't know this yet" message.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2697480" cy="429768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78040" y="1783080"/>
            <a:ext cx="777240" cy="777240"/>
          </a:xfrm>
          <a:prstGeom prst="ellipse">
            <a:avLst/>
          </a:prstGeom>
          <a:solidFill>
            <a:srgbClr val="FDD835"/>
          </a:solidFill>
          <a:ln/>
        </p:spPr>
      </p:sp>
      <p:sp>
        <p:nvSpPr>
          <p:cNvPr id="15" name="Text 13"/>
          <p:cNvSpPr/>
          <p:nvPr/>
        </p:nvSpPr>
        <p:spPr>
          <a:xfrm>
            <a:off x="7178040" y="17830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1B1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400800" y="274320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B1B"/>
                </a:solidFill>
              </a:rPr>
              <a:t>Data Mule Sync runs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0" y="379476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24242"/>
                </a:solidFill>
              </a:rPr>
              <a:t>Teacher's phone or USB drive in town performs a real internet lookup for queued questions.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098280" y="1554480"/>
            <a:ext cx="2697480" cy="429768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58400" y="1783080"/>
            <a:ext cx="777240" cy="777240"/>
          </a:xfrm>
          <a:prstGeom prst="ellipse">
            <a:avLst/>
          </a:prstGeom>
          <a:solidFill>
            <a:srgbClr val="FDD835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0" y="17830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1B1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9281160" y="274320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B1B"/>
                </a:solidFill>
              </a:rPr>
              <a:t>Answer saved to the Hub — forever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281160" y="379476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24242"/>
                </a:solidFill>
              </a:rPr>
              <a:t>Every future student who asks gets it instantly, fully offline, no matter the device.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850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LIVE DEMO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757575"/>
                </a:solidFill>
              </a:rPr>
              <a:t>(Switching to the live application now)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1920240"/>
            <a:ext cx="94183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B1B1B"/>
                </a:solidFill>
              </a:rPr>
              <a:t>Ask the AI Tutor a question it doesn't know — watch it respond honestly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B1B1B"/>
                </a:solidFill>
              </a:rPr>
              <a:t>Click Start Sync — a real internet lookup happens live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B1B1B"/>
                </a:solidFill>
              </a:rPr>
              <a:t>See the answer permanently saved to the Village Hub Knowledge Base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B1B1B"/>
                </a:solidFill>
              </a:rPr>
              <a:t>Upload a lesson video or ZIMSEC past paper as a teacher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B1B1B"/>
                </a:solidFill>
              </a:rPr>
              <a:t>Open a downloaded lesson — real video playback, real download button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71600" y="5394960"/>
            <a:ext cx="9418320" cy="822960"/>
          </a:xfrm>
          <a:prstGeom prst="rect">
            <a:avLst/>
          </a:prstGeom>
          <a:solidFill>
            <a:srgbClr val="FFF3E0"/>
          </a:solidFill>
          <a:ln w="25400">
            <a:solidFill>
              <a:srgbClr val="FDD8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4480" y="5532120"/>
            <a:ext cx="9052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B1B1B"/>
                </a:solidFill>
              </a:rPr>
              <a:t>localhost:5173 — Village Hub backend running live on this machine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D8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SOCIAL IMPACT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554480"/>
            <a:ext cx="2606040" cy="2103120"/>
          </a:xfrm>
          <a:prstGeom prst="rect">
            <a:avLst/>
          </a:prstGeom>
          <a:solidFill>
            <a:srgbClr val="FFFFFF"/>
          </a:solidFill>
          <a:ln w="50800">
            <a:solidFill>
              <a:srgbClr val="2E7D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E7D3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$0.00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1B1B"/>
                </a:solidFill>
              </a:rPr>
              <a:t>Data Cost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B1B1B"/>
                </a:solidFill>
              </a:rPr>
              <a:t>Per Student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91840" y="1554480"/>
            <a:ext cx="2606040" cy="2103120"/>
          </a:xfrm>
          <a:prstGeom prst="rect">
            <a:avLst/>
          </a:prstGeom>
          <a:solidFill>
            <a:srgbClr val="FFFFFF"/>
          </a:solidFill>
          <a:ln w="508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182880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B8504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200+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291840" y="269748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1B1B"/>
                </a:solidFill>
              </a:rPr>
              <a:t>Students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B1B1B"/>
                </a:solidFill>
              </a:rPr>
              <a:t>Per Hub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26480" y="1554480"/>
            <a:ext cx="2606040" cy="2103120"/>
          </a:xfrm>
          <a:prstGeom prst="rect">
            <a:avLst/>
          </a:prstGeom>
          <a:solidFill>
            <a:srgbClr val="FFFFFF"/>
          </a:solidFill>
          <a:ln w="50800">
            <a:solidFill>
              <a:srgbClr val="1976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182880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976D2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$50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6126480" y="269748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1B1B"/>
                </a:solidFill>
              </a:rPr>
              <a:t>Total Setup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B1B1B"/>
                </a:solidFill>
              </a:rPr>
              <a:t>Cost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961120" y="1554480"/>
            <a:ext cx="2606040" cy="2103120"/>
          </a:xfrm>
          <a:prstGeom prst="rect">
            <a:avLst/>
          </a:prstGeom>
          <a:solidFill>
            <a:srgbClr val="FFFFFF"/>
          </a:solidFill>
          <a:ln w="50800">
            <a:solidFill>
              <a:srgbClr val="6A1B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0" y="182880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6A1B9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9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8961120" y="269748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1B1B"/>
                </a:solidFill>
              </a:rPr>
              <a:t>ZIMSEC Subjects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B1B1B"/>
                </a:solidFill>
              </a:rPr>
              <a:t>Covered Today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41148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1B1B1B"/>
                </a:solidFill>
              </a:rPr>
              <a:t>Scalable to every rural school in Zimbabwe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B1B1B"/>
                </a:solidFill>
              </a:rPr>
              <a:t>Closes the 43-point pass-rate gap between rural and urban students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9601200" y="-457200"/>
            <a:ext cx="2743200" cy="2743200"/>
          </a:xfrm>
          <a:prstGeom prst="rect">
            <a:avLst/>
          </a:prstGeom>
          <a:solidFill>
            <a:srgbClr val="FDD835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800000">
            <a:off x="-914400" y="5029200"/>
            <a:ext cx="2286000" cy="2286000"/>
          </a:xfrm>
          <a:prstGeom prst="rect">
            <a:avLst/>
          </a:prstGeom>
          <a:solidFill>
            <a:srgbClr val="2E7D32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229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NEXT STEPS</a:t>
            </a:r>
            <a:endParaRPr lang="en-US" sz="5000" dirty="0"/>
          </a:p>
        </p:txBody>
      </p:sp>
      <p:sp>
        <p:nvSpPr>
          <p:cNvPr id="5" name="Shape 3"/>
          <p:cNvSpPr/>
          <p:nvPr/>
        </p:nvSpPr>
        <p:spPr>
          <a:xfrm>
            <a:off x="1645920" y="1920240"/>
            <a:ext cx="8869680" cy="548640"/>
          </a:xfrm>
          <a:prstGeom prst="rect">
            <a:avLst/>
          </a:prstGeom>
          <a:solidFill>
            <a:srgbClr val="FFFFFF">
              <a:alpha val="90000"/>
            </a:srgbClr>
          </a:solidFill>
          <a:ln w="25400">
            <a:solidFill>
              <a:srgbClr val="FDD8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1993392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Pilot in 5 rural schools (Madziva, Rusape, Gokwe, Kariba, Binga)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645920" y="2606040"/>
            <a:ext cx="8869680" cy="548640"/>
          </a:xfrm>
          <a:prstGeom prst="rect">
            <a:avLst/>
          </a:prstGeom>
          <a:solidFill>
            <a:srgbClr val="FFFFFF">
              <a:alpha val="90000"/>
            </a:srgbClr>
          </a:solidFill>
          <a:ln w="25400">
            <a:solidFill>
              <a:srgbClr val="FDD8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2679192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Measure ZIMSEC pass-rate improvement over one term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645920" y="3291840"/>
            <a:ext cx="8869680" cy="548640"/>
          </a:xfrm>
          <a:prstGeom prst="rect">
            <a:avLst/>
          </a:prstGeom>
          <a:solidFill>
            <a:srgbClr val="FFFFFF">
              <a:alpha val="90000"/>
            </a:srgbClr>
          </a:solidFill>
          <a:ln w="25400">
            <a:solidFill>
              <a:srgbClr val="FDD8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3364992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Partner with the Ministry of Education for nationwide rollout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645920" y="3977640"/>
            <a:ext cx="8869680" cy="548640"/>
          </a:xfrm>
          <a:prstGeom prst="rect">
            <a:avLst/>
          </a:prstGeom>
          <a:solidFill>
            <a:srgbClr val="FFFFFF">
              <a:alpha val="90000"/>
            </a:srgbClr>
          </a:solidFill>
          <a:ln w="25400">
            <a:solidFill>
              <a:srgbClr val="FDD8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4050792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Open-source the platform for other African countries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4846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FDD835"/>
                </a:solidFill>
              </a:rPr>
              <a:t>"Let's end Digital Apartheid in Zimbabwe"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57200" y="54406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5F5"/>
                </a:solidFill>
              </a:rPr>
              <a:t>Brighton &amp; Kudakwashe Calvin Bhamusi  |  github.com/BR-Codeio/edu-sync-mesh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59436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F5F5"/>
                </a:solidFill>
              </a:rPr>
              <a:t>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Zimbabwe EdTech Innovation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Edu-Sync Mesh: The Offline-First AI Tutor</dc:title>
  <dc:subject>Hackathon &amp; Innovation Day 2026 - Bridging Rural-Urban Learning Gap</dc:subject>
  <dc:creator>Brighton &amp; Kudakwashe Calvin Bhamusi</dc:creator>
  <cp:lastModifiedBy>Brighton &amp; Kudakwashe Calvin Bhamusi</cp:lastModifiedBy>
  <cp:revision>1</cp:revision>
  <dcterms:created xsi:type="dcterms:W3CDTF">2026-07-14T08:21:25Z</dcterms:created>
  <dcterms:modified xsi:type="dcterms:W3CDTF">2026-07-14T08:21:25Z</dcterms:modified>
</cp:coreProperties>
</file>